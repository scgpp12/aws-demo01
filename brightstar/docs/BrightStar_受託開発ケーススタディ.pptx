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58200" y="146304"/>
            <a:ext cx="3733495" cy="65653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8200" y="146304"/>
            <a:ext cx="91440" cy="6565392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-1188720"/>
            <a:ext cx="3291840" cy="3291840"/>
          </a:xfrm>
          <a:prstGeom prst="ellipse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371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A43B"/>
                </a:solidFill>
                <a:latin typeface="Yu Gothic UI"/>
                <a:ea typeface="Yu Gothic UI"/>
                <a:cs typeface="Yu Gothic UI"/>
              </a:rPr>
              <a:t>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8823960" y="2075688"/>
            <a:ext cx="128016" cy="128016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9659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AWS Serverless / IaC</a:t>
            </a:r>
          </a:p>
        </p:txBody>
      </p:sp>
      <p:sp>
        <p:nvSpPr>
          <p:cNvPr id="11" name="Oval 10"/>
          <p:cNvSpPr/>
          <p:nvPr/>
        </p:nvSpPr>
        <p:spPr>
          <a:xfrm>
            <a:off x="8823960" y="2734056"/>
            <a:ext cx="128016" cy="128016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6243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生成AI・RAG (Bedrock)</a:t>
            </a:r>
          </a:p>
        </p:txBody>
      </p:sp>
      <p:sp>
        <p:nvSpPr>
          <p:cNvPr id="13" name="Oval 12"/>
          <p:cNvSpPr/>
          <p:nvPr/>
        </p:nvSpPr>
        <p:spPr>
          <a:xfrm>
            <a:off x="8823960" y="3392424"/>
            <a:ext cx="128016" cy="128016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328269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メッセージング連携</a:t>
            </a:r>
          </a:p>
        </p:txBody>
      </p:sp>
      <p:sp>
        <p:nvSpPr>
          <p:cNvPr id="15" name="Oval 14"/>
          <p:cNvSpPr/>
          <p:nvPr/>
        </p:nvSpPr>
        <p:spPr>
          <a:xfrm>
            <a:off x="8823960" y="4050792"/>
            <a:ext cx="128016" cy="128016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94106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Web / SaaS 開発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A43B"/>
                </a:solidFill>
                <a:latin typeface="Yu Gothic UI"/>
                <a:ea typeface="Yu Gothic UI"/>
                <a:cs typeface="Yu Gothic UI"/>
              </a:rPr>
              <a:t>受託開発 ケーススタディ /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7406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BrightStar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研修アシスタント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サーバーレス × 生成AI で実現した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社内研修 DX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9C6D6"/>
                </a:solidFill>
                <a:latin typeface="Meiryo"/>
                <a:ea typeface="Meiryo"/>
                <a:cs typeface="Meiryo"/>
              </a:rPr>
              <a:t>作成：開発チーム</a:t>
            </a:r>
            <a:r>
              <a:rPr sz="1200" b="0" i="0">
                <a:solidFill>
                  <a:srgbClr val="7C8C9E"/>
                </a:solidFill>
                <a:latin typeface="Meiryo"/>
                <a:ea typeface="Meiryo"/>
                <a:cs typeface="Meiryo"/>
              </a:rPr>
              <a:t>　／　2026年6月　／　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エグゼクティブサマリー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「微信・LINE で完結する社内研修アシスタント」を、サーバーレス＋生成AIでフルスクラッチ開発。共通バックエンドをマルチチャネル展開し、受講管理・多言語対応・AI問答・自動リマインドを固定費ほぼゼロで実現しました。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578608"/>
            <a:ext cx="146304" cy="146304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企画から実装・IaC・運用・ドキュメントまで一気通貫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45536"/>
            <a:ext cx="146304" cy="146304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AWS Serverless：アイドル時コスト実質ゼロの従量課金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712464"/>
            <a:ext cx="146304" cy="146304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48456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生成AI(Bedrock)＋自前RAG：OpenSearch不使用でコスト最適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279392"/>
            <a:ext cx="146304" cy="146304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15384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データ主権：生成AIは日本リージョン内で完結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463040"/>
            <a:ext cx="2103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645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3774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DynamoDB テーブル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463040"/>
            <a:ext cx="2103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1645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23774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Lambda 関数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081528"/>
            <a:ext cx="2103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26440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995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自動テスト 全合格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9488" y="3081528"/>
            <a:ext cx="2103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488" y="326440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微信+LINE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3995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対応チャネル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700016"/>
            <a:ext cx="2103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882896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約0.5円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6144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AI 1問あたり(概算)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9488" y="4700016"/>
            <a:ext cx="2103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4882896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日中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56144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多言語対応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背景と課題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社内研修の運営は、申込・出欠・リマインド・成績管理が手作業に依存しがち。多言語チームでは負担がさらに増大します。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40280"/>
            <a:ext cx="5440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9631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2496312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受講管理が煩雑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953512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申込・キャンセル・名簿・グループ分けを手作業・表計算で管理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240280"/>
            <a:ext cx="5440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49631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8" y="2496312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連絡漏れ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953512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開講案内・直前リマインドの抜け漏れ、Zoomリンク共有の手間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06240"/>
            <a:ext cx="5440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46227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4462272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多言語の壁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919472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日本人・中国人スタッフ混在で案内が二度手間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4206240"/>
            <a:ext cx="5440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46227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4462272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成績が散在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4919472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テスト結果・アンケートが個人に紐づかず集計困難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ソリューション概要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BrightStar は、受講者が普段使う「微信(WeChat)」で完結する研修アシスタント。チャットだけで申込・確認ができ、講師は数行のコマンドで運営。Webサイトで成績・アンケートを記録します。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77440"/>
            <a:ext cx="36118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3611880" cy="64008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97480"/>
            <a:ext cx="3611880" cy="320040"/>
          </a:xfrm>
          <a:prstGeom prst="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9631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受講者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328416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微信/LINE 対応・言語選択→登録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895344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81304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講座一覧・申込・キャンセル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462272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7997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次回講座/Zoom 確認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5029200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94690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AI問答／アカウント連携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2377440"/>
            <a:ext cx="36118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25696" y="2377440"/>
            <a:ext cx="3611880" cy="640080"/>
          </a:xfrm>
          <a:prstGeom prst="round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25696" y="2697480"/>
            <a:ext cx="3611880" cy="32004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249631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講師</a:t>
            </a:r>
          </a:p>
        </p:txBody>
      </p:sp>
      <p:sp>
        <p:nvSpPr>
          <p:cNvPr id="26" name="Oval 25"/>
          <p:cNvSpPr/>
          <p:nvPr/>
        </p:nvSpPr>
        <p:spPr>
          <a:xfrm>
            <a:off x="4700016" y="3328416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コマンドで開講・公開</a:t>
            </a:r>
          </a:p>
        </p:txBody>
      </p:sp>
      <p:sp>
        <p:nvSpPr>
          <p:cNvPr id="28" name="Oval 27"/>
          <p:cNvSpPr/>
          <p:nvPr/>
        </p:nvSpPr>
        <p:spPr>
          <a:xfrm>
            <a:off x="4700016" y="3895344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8616" y="381304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受講名簿の確認</a:t>
            </a:r>
          </a:p>
        </p:txBody>
      </p:sp>
      <p:sp>
        <p:nvSpPr>
          <p:cNvPr id="30" name="Oval 29"/>
          <p:cNvSpPr/>
          <p:nvPr/>
        </p:nvSpPr>
        <p:spPr>
          <a:xfrm>
            <a:off x="4700016" y="4462272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437997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ランダムグループ分け</a:t>
            </a:r>
          </a:p>
        </p:txBody>
      </p:sp>
      <p:sp>
        <p:nvSpPr>
          <p:cNvPr id="32" name="Oval 31"/>
          <p:cNvSpPr/>
          <p:nvPr/>
        </p:nvSpPr>
        <p:spPr>
          <a:xfrm>
            <a:off x="4700016" y="5029200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8616" y="494690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成績エクスポート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2377440"/>
            <a:ext cx="36118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84464" y="2377440"/>
            <a:ext cx="3611880" cy="640080"/>
          </a:xfrm>
          <a:prstGeom prst="round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2697480"/>
            <a:ext cx="3611880" cy="320040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249631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Webサイト</a:t>
            </a:r>
          </a:p>
        </p:txBody>
      </p:sp>
      <p:sp>
        <p:nvSpPr>
          <p:cNvPr id="38" name="Oval 37"/>
          <p:cNvSpPr/>
          <p:nvPr/>
        </p:nvSpPr>
        <p:spPr>
          <a:xfrm>
            <a:off x="8558784" y="3328416"/>
            <a:ext cx="109728" cy="109728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7384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ログインコードで認証</a:t>
            </a:r>
          </a:p>
        </p:txBody>
      </p:sp>
      <p:sp>
        <p:nvSpPr>
          <p:cNvPr id="40" name="Oval 39"/>
          <p:cNvSpPr/>
          <p:nvPr/>
        </p:nvSpPr>
        <p:spPr>
          <a:xfrm>
            <a:off x="8558784" y="3895344"/>
            <a:ext cx="109728" cy="109728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87384" y="381304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教材・小テスト</a:t>
            </a:r>
          </a:p>
        </p:txBody>
      </p:sp>
      <p:sp>
        <p:nvSpPr>
          <p:cNvPr id="42" name="Oval 41"/>
          <p:cNvSpPr/>
          <p:nvPr/>
        </p:nvSpPr>
        <p:spPr>
          <a:xfrm>
            <a:off x="8558784" y="4462272"/>
            <a:ext cx="109728" cy="109728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87384" y="437997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課後アンケート</a:t>
            </a:r>
          </a:p>
        </p:txBody>
      </p:sp>
      <p:sp>
        <p:nvSpPr>
          <p:cNvPr id="44" name="Oval 43"/>
          <p:cNvSpPr/>
          <p:nvPr/>
        </p:nvSpPr>
        <p:spPr>
          <a:xfrm>
            <a:off x="8558784" y="5029200"/>
            <a:ext cx="109728" cy="109728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87384" y="494690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成績を個人別に記録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システムアーキテクチャ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フルサーバーレス。固定サーバなし・従量課金・自動スケール。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2057400" cy="868680"/>
          </a:xfrm>
          <a:prstGeom prst="roundRect">
            <a:avLst/>
          </a:prstGeom>
          <a:solidFill>
            <a:srgbClr val="0E2238"/>
          </a:solidFill>
          <a:ln w="9525">
            <a:solidFill>
              <a:srgbClr val="0E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58568"/>
            <a:ext cx="205740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微信/LINE/企業微信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受講者・講師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70048" y="2450592"/>
            <a:ext cx="548640" cy="256032"/>
          </a:xfrm>
          <a:prstGeom prst="rightArrow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64408" y="2148840"/>
            <a:ext cx="2148840" cy="868680"/>
          </a:xfrm>
          <a:prstGeom prst="roundRect">
            <a:avLst/>
          </a:prstGeom>
          <a:solidFill>
            <a:srgbClr val="0B5A82"/>
          </a:solidFill>
          <a:ln w="9525">
            <a:solidFill>
              <a:srgbClr val="0B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258568"/>
            <a:ext cx="214884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中継サーバ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Tailscale Funnel / 可信IP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58968" y="2450592"/>
            <a:ext cx="548640" cy="256032"/>
          </a:xfrm>
          <a:prstGeom prst="rightArrow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53328" y="2148840"/>
            <a:ext cx="1828800" cy="868680"/>
          </a:xfrm>
          <a:prstGeom prst="roundRect">
            <a:avLst/>
          </a:prstGeom>
          <a:solidFill>
            <a:srgbClr val="0B5A82"/>
          </a:solidFill>
          <a:ln w="9525">
            <a:solidFill>
              <a:srgbClr val="0B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258568"/>
            <a:ext cx="182880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API Gateway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HTTP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27848" y="2450592"/>
            <a:ext cx="502920" cy="256032"/>
          </a:xfrm>
          <a:prstGeom prst="rightArrow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76488" y="2148840"/>
            <a:ext cx="3154680" cy="868680"/>
          </a:xfrm>
          <a:prstGeom prst="roundRect">
            <a:avLst/>
          </a:prstGeom>
          <a:solidFill>
            <a:srgbClr val="1390A6"/>
          </a:solidFill>
          <a:ln w="9525">
            <a:solidFill>
              <a:srgbClr val="139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258568"/>
            <a:ext cx="315468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Lambda (Python 3.12)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webhook / line / web / reminder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3017520"/>
            <a:ext cx="91440" cy="36576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3364992"/>
            <a:ext cx="6492240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3493008" y="3419856"/>
            <a:ext cx="237744" cy="365760"/>
          </a:xfrm>
          <a:prstGeom prst="downArrow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6053328" y="3419856"/>
            <a:ext cx="237744" cy="365760"/>
          </a:xfrm>
          <a:prstGeom prst="downArrow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8750808" y="3419856"/>
            <a:ext cx="237744" cy="365760"/>
          </a:xfrm>
          <a:prstGeom prst="downArrow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23160" y="3822191"/>
            <a:ext cx="2377440" cy="868680"/>
          </a:xfrm>
          <a:prstGeom prst="roundRect">
            <a:avLst/>
          </a:prstGeom>
          <a:solidFill>
            <a:srgbClr val="0E2238"/>
          </a:solidFill>
          <a:ln w="9525">
            <a:solidFill>
              <a:srgbClr val="0E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3931919"/>
            <a:ext cx="237744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DynamoDB ×6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On-Demand・暗号化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822191"/>
            <a:ext cx="2377440" cy="868680"/>
          </a:xfrm>
          <a:prstGeom prst="roundRect">
            <a:avLst/>
          </a:prstGeom>
          <a:solidFill>
            <a:srgbClr val="E0A43B"/>
          </a:solidFill>
          <a:ln w="9525">
            <a:solidFill>
              <a:srgbClr val="E0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3931919"/>
            <a:ext cx="237744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Amazon Bedrock</a:t>
            </a:r>
          </a:p>
          <a:p>
            <a:pPr algn="ctr"/>
            <a:r>
              <a:rPr sz="950" b="0" i="0">
                <a:solidFill>
                  <a:srgbClr val="0E2238"/>
                </a:solidFill>
                <a:latin typeface="Meiryo"/>
                <a:ea typeface="Meiryo"/>
                <a:cs typeface="Meiryo"/>
              </a:rPr>
              <a:t>Claude / Titan（日本境内）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822191"/>
            <a:ext cx="2743200" cy="868680"/>
          </a:xfrm>
          <a:prstGeom prst="roundRect">
            <a:avLst/>
          </a:prstGeom>
          <a:solidFill>
            <a:srgbClr val="0B5A82"/>
          </a:solidFill>
          <a:ln w="9525">
            <a:solidFill>
              <a:srgbClr val="0B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931919"/>
            <a:ext cx="2743200" cy="6858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EventBridge → Reminder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開講1時間前 自動通知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9834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設計の勘所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・微信客服APIの「可信IP」制約 → 固定IP中継(Tailscale Funnel)で追加コストゼロ・ポート開放なしで解決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・暗号(WXBizMsgCrypt)を純Python AESで自前実装 → 外部依存ゼロ、Lambda は src/ を圧縮するだけ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・ルーティング層をチャネル非依存に設計 → LINE は署名検証のみで同一バックエンドに接続(中継/暗号なし)、提醒は連携済み全チャネルへ配信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主要機能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837944"/>
            <a:ext cx="640080" cy="640080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1109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87452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受講管理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313432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登録・申込・キャンセル・定員制御(条件付き書込み)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60020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81728" y="1837944"/>
            <a:ext cx="640080" cy="640080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91109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🧑‍🏫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187452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講師運営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2313432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開講・公開・名簿・ランダムグループ分け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160020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0496" y="1837944"/>
            <a:ext cx="640080" cy="640080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91109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187452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AI問答(任意)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313432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「AI」ONで自由質問→RAGで回答／OFFは通常メニュー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56432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3694176"/>
            <a:ext cx="640080" cy="640080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673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373075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多言語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16966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日本語/中国語、利用者ごとに記憶・切替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3456432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3694176"/>
            <a:ext cx="640080" cy="640080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7673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373075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自動リマインド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6" y="416966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開講1時間前に自動通知（微信・LINE 両対応）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3456432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40496" y="3694176"/>
            <a:ext cx="640080" cy="640080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37673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73075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成績・アンケート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416966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個人別に記録、講師がエクスポート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TECHNICAL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技術的ハイライト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「難所をどう解いたか」が受託開発の実力です。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11680"/>
            <a:ext cx="54406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011680"/>
            <a:ext cx="128016" cy="1920240"/>
          </a:xfrm>
          <a:prstGeom prst="round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可信IP 制約の突破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800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クラウド関数の動的IPでは外部API要件を満たせない課題を、固定IP中継＋Tailscale Funnelで解決。ルータ設定・ポート開放不要、月額ゼロ。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011680"/>
            <a:ext cx="54406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81928" y="2011680"/>
            <a:ext cx="128016" cy="1920240"/>
          </a:xfrm>
          <a:prstGeom prst="round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2677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生成AI のコスト最適化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761488"/>
            <a:ext cx="4800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OpenSearch(月$350+)を使わず、Titan埋め込み＋DynamoDB近傍探索で自前RAGを構築。従量課金・アイドル$0。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06240"/>
            <a:ext cx="54406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4206240"/>
            <a:ext cx="128016" cy="1920240"/>
          </a:xfrm>
          <a:prstGeom prst="round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46227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データ主権・コンプラ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56048"/>
            <a:ext cx="4800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生成は日本リージョン内 inference profile で完結。データを国外に出さない構成。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4206240"/>
            <a:ext cx="54406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1928" y="4206240"/>
            <a:ext cx="128016" cy="1920240"/>
          </a:xfrm>
          <a:prstGeom prst="round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446227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依存ゼロ＆IaC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4956048"/>
            <a:ext cx="4800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暗号を純Pythonで実装し外部ライブラリ不要。SAM/CDK 両対応、14件の自動テストで品質担保。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VALUE WE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お客様に提供できる価値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361188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1920240"/>
            <a:ext cx="411480" cy="411480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4767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19202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業務のデジタル化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1460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属人的・手作業の業務をチャット/Webで自動化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645920"/>
            <a:ext cx="361188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0016" y="1920240"/>
            <a:ext cx="411480" cy="411480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94767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19202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低コスト運用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51460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従量課金・固定費最小化。アイドル時はほぼ無料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1645920"/>
            <a:ext cx="361188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58784" y="1920240"/>
            <a:ext cx="411480" cy="411480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194767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19202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短納期・段階提供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251460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小さく動かし反復。早期にPoC→本番へ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29584"/>
            <a:ext cx="361188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3803904"/>
            <a:ext cx="411480" cy="411480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31336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8" y="380390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多言語・グローバル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398264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日本語/中国語など多言語UIを標準対応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3529584"/>
            <a:ext cx="361188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00016" y="3803904"/>
            <a:ext cx="411480" cy="411480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3831336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6" y="380390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生成AI活用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4398264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問い合わせ対応・ナレッジ検索・自動応答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3529584"/>
            <a:ext cx="361188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58784" y="3803904"/>
            <a:ext cx="411480" cy="411480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3831336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380390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セキュリティ/主権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4398264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データ国内完結・最小権限・機密の分離管理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WHAT WE CAN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対応可能なプロジェクト領域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91640"/>
            <a:ext cx="128016" cy="141732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110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クラウドネイティブ基盤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5000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サーバーレス/コンテナ、IaC、DevOps、コスト最適化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1928" y="1691640"/>
            <a:ext cx="128016" cy="141732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9110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生成AI / RAG / エージェント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35000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チャットボット、社内ナレッジ検索、業務自動化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3756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337560"/>
            <a:ext cx="128016" cy="141732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55701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メッセージング連携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99592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微信/企業微信、LINE、Slack、Teams 等の業務Bot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333756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3337560"/>
            <a:ext cx="128016" cy="141732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5701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Web / SaaS 開発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399592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認証付きWebアプリ、管理画面、API、マルチテナント設計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8348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983480"/>
            <a:ext cx="128016" cy="141732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20293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業務自動化・データ基盤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64184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定期バッチ、通知、集計、ダッシュボード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498348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81928" y="4983480"/>
            <a:ext cx="128016" cy="1417320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520293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セキュリティ / コンプラ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564184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データ主権、最小権限、機密管理、監査対応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TECHNICAL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技術スタックの深さ：AWS /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54406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00200"/>
            <a:ext cx="5440680" cy="658368"/>
          </a:xfrm>
          <a:prstGeom prst="round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20240"/>
            <a:ext cx="5440680" cy="338328"/>
          </a:xfrm>
          <a:prstGeom prst="rect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37360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AWS でできること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587752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Lambda / API Gateway / DynamoDB（サーバーレスAPI）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154680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8152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Amazon Bedrock（生成AI・埋め込み・日本境内）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721608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48456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EventBridge（定期実行）/ S3 / Secrets Manager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288536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1538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IaC：CloudFormation・SAM・CDK(Python)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855464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78231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IAM 最小権限・SSE暗号・Budgets でコスト管理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422392"/>
            <a:ext cx="109728" cy="109728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東京リージョン中心、データ主権を考慮した設計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600200"/>
            <a:ext cx="54406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1600200"/>
            <a:ext cx="5440680" cy="658368"/>
          </a:xfrm>
          <a:prstGeom prst="round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1920240"/>
            <a:ext cx="5440680" cy="338328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737360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Python でできること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4" y="2587752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25146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サーバーレス・バックエンド／業務ロジック</a:t>
            </a:r>
          </a:p>
        </p:txBody>
      </p:sp>
      <p:sp>
        <p:nvSpPr>
          <p:cNvPr id="31" name="Oval 30"/>
          <p:cNvSpPr/>
          <p:nvPr/>
        </p:nvSpPr>
        <p:spPr>
          <a:xfrm>
            <a:off x="6501384" y="3154680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308152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生成AI連携・自前RAG（埋め込み＋近傍探索）</a:t>
            </a:r>
          </a:p>
        </p:txBody>
      </p:sp>
      <p:sp>
        <p:nvSpPr>
          <p:cNvPr id="33" name="Oval 32"/>
          <p:cNvSpPr/>
          <p:nvPr/>
        </p:nvSpPr>
        <p:spPr>
          <a:xfrm>
            <a:off x="6501384" y="3721608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3648456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暗号・プロトコル実装（依存ゼロの純Python）</a:t>
            </a:r>
          </a:p>
        </p:txBody>
      </p:sp>
      <p:sp>
        <p:nvSpPr>
          <p:cNvPr id="35" name="Oval 34"/>
          <p:cNvSpPr/>
          <p:nvPr/>
        </p:nvSpPr>
        <p:spPr>
          <a:xfrm>
            <a:off x="6501384" y="4288536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421538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自動テスト（インメモリ擬似DBでE2E）</a:t>
            </a:r>
          </a:p>
        </p:txBody>
      </p:sp>
      <p:sp>
        <p:nvSpPr>
          <p:cNvPr id="37" name="Oval 36"/>
          <p:cNvSpPr/>
          <p:nvPr/>
        </p:nvSpPr>
        <p:spPr>
          <a:xfrm>
            <a:off x="6501384" y="4855464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478231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IaC を Python(CDK) で記述</a:t>
            </a:r>
          </a:p>
        </p:txBody>
      </p:sp>
      <p:sp>
        <p:nvSpPr>
          <p:cNvPr id="39" name="Oval 38"/>
          <p:cNvSpPr/>
          <p:nvPr/>
        </p:nvSpPr>
        <p:spPr>
          <a:xfrm>
            <a:off x="6501384" y="5422392"/>
            <a:ext cx="109728" cy="1097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9984" y="5349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データ処理・自動化・ドキュメント生成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SAAS-READY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SaaS プロダクト開発を見据えた設計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2733"/>
                </a:solidFill>
                <a:latin typeface="Meiryo"/>
                <a:ea typeface="Meiryo"/>
                <a:cs typeface="Meiryo"/>
              </a:rPr>
              <a:t>BrightStar は単一組織向けデモですが、アーキテクチャは SaaS 化を前提に設計。テナント分離・従量課金・IaC 複製で、製品化/横展開が容易です。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3172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6946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マルチテナント拡張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0449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識別子設計とデータ分離で複数組織へ展開可能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33172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56946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従量課金モデル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0449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利用量に比例するコスト構造＝SaaSの原価管理に好相性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233172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56946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環境複製(IaC)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0449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SAM/CDK でステージ/顧客ごとに同一構成を即複製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052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39826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運用の自動化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8737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リマインド・集計・通知をマネージドで自動化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416052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439826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多言語UI標準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8737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海外展開を見据えた i18n 設計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4160520"/>
            <a:ext cx="3611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439826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ドキュメント納品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48737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設計/運用/利用手册(PDF)まで整備し引継ぎ容易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受託開発としての強み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36118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929384"/>
            <a:ext cx="502920" cy="502920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659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一気通貫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03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要件定義から実装・IaC・運用・ドキュメントまで一貫対応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91640"/>
            <a:ext cx="36118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1929384"/>
            <a:ext cx="502920" cy="502920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19659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コスト意識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5603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従量課金・固定費最小。不要な高額サービスは選ばない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691640"/>
            <a:ext cx="36118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0496" y="1929384"/>
            <a:ext cx="502920" cy="502920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9659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検証ドリブン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5603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各工程で実機検証。通らなければ止めて報告する誠実さ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39312"/>
            <a:ext cx="36118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3877056"/>
            <a:ext cx="502920" cy="502920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1363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納品物の充実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0799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ソース＋IaC＋テスト＋設計/運用/利用手册を整備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639312"/>
            <a:ext cx="36118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81728" y="3877056"/>
            <a:ext cx="502920" cy="502920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91363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セキュリティ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450799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機密はパラメータ/Secrets管理、コードに残さない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3639312"/>
            <a:ext cx="36118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40496" y="3877056"/>
            <a:ext cx="502920" cy="502920"/>
          </a:xfrm>
          <a:prstGeom prst="ellipse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E2238"/>
                </a:solidFill>
                <a:latin typeface="Yu Gothic UI"/>
                <a:ea typeface="Yu Gothic UI"/>
                <a:cs typeface="Yu Gothic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391363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短サイクル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450799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小さく早く動かし、フィードバックで磨き込む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0B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PROCESS &amp;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13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進め方と納品物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BrightStar 研修アシスタント｜受託開発ケーススタディ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2011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ヒアリング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課題・要件整理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96896" y="2542032"/>
            <a:ext cx="256032" cy="256032"/>
          </a:xfrm>
          <a:prstGeom prst="rightArrow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1216" y="1828800"/>
            <a:ext cx="2011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02996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小さく実証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01184" y="2542032"/>
            <a:ext cx="256032" cy="256032"/>
          </a:xfrm>
          <a:prstGeom prst="rightArrow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75504" y="1828800"/>
            <a:ext cx="2011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202996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反復実装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各工程で検証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05472" y="2542032"/>
            <a:ext cx="256032" cy="256032"/>
          </a:xfrm>
          <a:prstGeom prst="rightArrow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79792" y="1828800"/>
            <a:ext cx="2011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202996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IaC化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再現可能に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09760" y="2542032"/>
            <a:ext cx="256032" cy="256032"/>
          </a:xfrm>
          <a:prstGeom prst="rightArrow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0" y="1828800"/>
            <a:ext cx="20116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02996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390A6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納品・運用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E6B7A"/>
                </a:solidFill>
                <a:latin typeface="Meiryo"/>
                <a:ea typeface="Meiryo"/>
                <a:cs typeface="Meiryo"/>
              </a:rPr>
              <a:t>文書と引継ぎ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9776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5A82"/>
                </a:solidFill>
                <a:latin typeface="Yu Gothic UI"/>
                <a:ea typeface="Yu Gothic UI"/>
                <a:cs typeface="Yu Gothic UI"/>
              </a:rPr>
              <a:t>主な納品物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480560"/>
            <a:ext cx="36118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8096" y="4663440"/>
            <a:ext cx="164592" cy="164592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45902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ソースコード(Git)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5696" y="4480560"/>
            <a:ext cx="36118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26864" y="4663440"/>
            <a:ext cx="164592" cy="164592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28616" y="45902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IaC (SAM / CDK)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4464" y="4480560"/>
            <a:ext cx="36118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85632" y="4663440"/>
            <a:ext cx="164592" cy="164592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7384" y="45902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自動テスト一式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93792"/>
            <a:ext cx="36118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8096" y="5376672"/>
            <a:ext cx="164592" cy="164592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9848" y="53035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設計・運用ドキュメント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5696" y="5193792"/>
            <a:ext cx="36118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26864" y="5376672"/>
            <a:ext cx="164592" cy="164592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28616" y="53035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利用手册(PDF)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84464" y="5193792"/>
            <a:ext cx="36118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85632" y="5376672"/>
            <a:ext cx="164592" cy="164592"/>
          </a:xfrm>
          <a:prstGeom prst="ellipse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87384" y="53035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2733"/>
                </a:solidFill>
                <a:latin typeface="Yu Gothic UI"/>
                <a:ea typeface="Yu Gothic UI"/>
                <a:cs typeface="Yu Gothic UI"/>
              </a:rPr>
              <a:t>コスト試算・予算アラート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0A43B"/>
                </a:solidFill>
                <a:latin typeface="Yu Gothic UI"/>
                <a:ea typeface="Yu Gothic UI"/>
                <a:cs typeface="Yu Gothic UI"/>
              </a:rPr>
              <a:t>SUMMARY &amp;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「動くものを、堅実に、無駄なく」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BrightStar は、当社が受託開発で提供できる総合力 —— クラウド・生成AI・連携・IaC・運用 —— を一つの形にした実例です。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3429000" cy="1554480"/>
          </a:xfrm>
          <a:prstGeom prst="roundRect">
            <a:avLst/>
          </a:prstGeom>
          <a:solidFill>
            <a:srgbClr val="1C3E5B"/>
          </a:solidFill>
          <a:ln w="9525">
            <a:solidFill>
              <a:srgbClr val="139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429000" cy="91440"/>
          </a:xfrm>
          <a:prstGeom prst="round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0390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A43B"/>
                </a:solidFill>
                <a:latin typeface="Yu Gothic UI"/>
                <a:ea typeface="Yu Gothic UI"/>
                <a:cs typeface="Yu Gothic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33088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ご相談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537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6D6"/>
                </a:solidFill>
                <a:latin typeface="Meiryo"/>
                <a:ea typeface="Meiryo"/>
                <a:cs typeface="Meiryo"/>
              </a:rPr>
              <a:t>課題・ご要望のヒアリング（無料）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66160"/>
            <a:ext cx="3429000" cy="1554480"/>
          </a:xfrm>
          <a:prstGeom prst="roundRect">
            <a:avLst/>
          </a:prstGeom>
          <a:solidFill>
            <a:srgbClr val="1C3E5B"/>
          </a:solidFill>
          <a:ln w="9525">
            <a:solidFill>
              <a:srgbClr val="139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3566160"/>
            <a:ext cx="3429000" cy="91440"/>
          </a:xfrm>
          <a:prstGeom prst="round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80390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A43B"/>
                </a:solidFill>
                <a:latin typeface="Yu Gothic UI"/>
                <a:ea typeface="Yu Gothic UI"/>
                <a:cs typeface="Yu Gothic U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33088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5537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6D6"/>
                </a:solidFill>
                <a:latin typeface="Meiryo"/>
                <a:ea typeface="Meiryo"/>
                <a:cs typeface="Meiryo"/>
              </a:rPr>
              <a:t>小規模で実証、効果と費用感を可視化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566160"/>
            <a:ext cx="3429000" cy="1554480"/>
          </a:xfrm>
          <a:prstGeom prst="roundRect">
            <a:avLst/>
          </a:prstGeom>
          <a:solidFill>
            <a:srgbClr val="1C3E5B"/>
          </a:solidFill>
          <a:ln w="9525">
            <a:solidFill>
              <a:srgbClr val="139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3566160"/>
            <a:ext cx="3429000" cy="91440"/>
          </a:xfrm>
          <a:prstGeom prst="round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80390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A43B"/>
                </a:solidFill>
                <a:latin typeface="Yu Gothic UI"/>
                <a:ea typeface="Yu Gothic UI"/>
                <a:cs typeface="Yu Gothic U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33088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本開発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5537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6D6"/>
                </a:solidFill>
                <a:latin typeface="Meiryo"/>
                <a:ea typeface="Meiryo"/>
                <a:cs typeface="Meiryo"/>
              </a:rPr>
              <a:t>IaC・ドキュメント込みで堅実に納品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4CC"/>
                </a:solidFill>
                <a:latin typeface="Meiryo"/>
                <a:ea typeface="Meiryo"/>
                <a:cs typeface="Meiryo"/>
              </a:rPr>
              <a:t>お問い合わせ：開発チーム　｜　受託開発・PoC のご相談を承ります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